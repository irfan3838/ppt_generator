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B0000"/>
                </a:solidFill>
                <a:latin typeface="Segoe UI"/>
              </a:defRPr>
            </a:pPr>
            <a:r>
              <a:t>Scaling MFD Practices: Breaking the Linear Growth Trap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2743200" cy="36576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D63031"/>
                </a:solidFill>
              </a:rPr>
              <a:t>▸  </a:t>
            </a:r>
            <a:r>
              <a:rPr sz="1400">
                <a:solidFill>
                  <a:srgbClr val="1A1A1A"/>
                </a:solidFill>
                <a:latin typeface="Segoe UI"/>
              </a:rPr>
              <a:t>Equity AUM grew 10x while MFD workforce grew only 2.5x (2015–2025).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D63031"/>
                </a:solidFill>
              </a:rPr>
              <a:t>▸  </a:t>
            </a:r>
            <a:r>
              <a:rPr sz="1400">
                <a:solidFill>
                  <a:srgbClr val="1A1A1A"/>
                </a:solidFill>
                <a:latin typeface="Segoe UI"/>
              </a:rPr>
              <a:t>Tech-enabled advisors manage 300+ clients compared to 50–100 in manual models.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D63031"/>
                </a:solidFill>
              </a:rPr>
              <a:t>▸  </a:t>
            </a:r>
            <a:r>
              <a:rPr sz="1400">
                <a:solidFill>
                  <a:srgbClr val="1A1A1A"/>
                </a:solidFill>
                <a:latin typeface="Segoe UI"/>
              </a:rPr>
              <a:t>Tech-first independent MFDs outpaced banks with 174% AUM growth (FY21–FY25).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D63031"/>
                </a:solidFill>
              </a:rPr>
              <a:t>▸  </a:t>
            </a:r>
            <a:r>
              <a:rPr sz="1400">
                <a:solidFill>
                  <a:srgbClr val="1A1A1A"/>
                </a:solidFill>
                <a:latin typeface="Segoe UI"/>
              </a:rPr>
              <a:t>Operational efficiency drove a 245% surge in commission income for independent MFDs.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D63031"/>
                </a:solidFill>
              </a:rPr>
              <a:t>▸  </a:t>
            </a:r>
            <a:r>
              <a:rPr sz="1400">
                <a:solidFill>
                  <a:srgbClr val="1A1A1A"/>
                </a:solidFill>
                <a:latin typeface="Segoe UI"/>
              </a:rPr>
              <a:t>Scalable systems are essential to serve the projected 20 crore investors by 2035.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18288" cy="4114800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486400" cy="3657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5623560"/>
            <a:ext cx="11247120" cy="594360"/>
          </a:xfrm>
          <a:prstGeom prst="roundRect">
            <a:avLst/>
          </a:prstGeom>
          <a:solidFill>
            <a:srgbClr val="FDECEA"/>
          </a:solidFill>
          <a:ln w="12700">
            <a:solidFill>
              <a:srgbClr val="D63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63031"/>
                </a:solidFill>
              </a:rPr>
              <a:t>★ </a:t>
            </a:r>
            <a:r>
              <a:rPr sz="1100" b="1">
                <a:solidFill>
                  <a:srgbClr val="D63031"/>
                </a:solidFill>
                <a:latin typeface="Segoe UI"/>
              </a:rPr>
              <a:t>KEY INSIGHT: </a:t>
            </a:r>
            <a:r>
              <a:rPr sz="1100">
                <a:solidFill>
                  <a:srgbClr val="1A1A1A"/>
                </a:solidFill>
                <a:latin typeface="Segoe UI"/>
              </a:rPr>
              <a:t>Client databases allow MFDs to decouple revenue from headcount, breaking the 'Linear Growth Trap.'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C8C8C"/>
                </a:solidFill>
                <a:latin typeface="Segoe UI"/>
              </a:defRPr>
            </a:pPr>
            <a:r>
              <a:t>Client Databases: The Invisible Engine Behind Scal...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00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C8C8C"/>
                </a:solidFill>
                <a:latin typeface="Segoe UI"/>
              </a:defRPr>
            </a:pPr>
            <a:r>
              <a:t>Slide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B0000"/>
                </a:solidFill>
                <a:latin typeface="Segoe UI"/>
              </a:defRPr>
            </a:pPr>
            <a:r>
              <a:t>Pivot to Industrial Models to Capture ₹100T Opportunity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2743200" cy="36576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D63031"/>
                </a:solidFill>
              </a:rPr>
              <a:t>▸  </a:t>
            </a:r>
            <a:r>
              <a:rPr sz="1400">
                <a:solidFill>
                  <a:srgbClr val="1A1A1A"/>
                </a:solidFill>
                <a:latin typeface="Segoe UI"/>
              </a:rPr>
              <a:t>Industry AUM projected to reach ₹100 Trillion by 2030, driven by household savings.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D63031"/>
                </a:solidFill>
              </a:rPr>
              <a:t>▸  </a:t>
            </a:r>
            <a:r>
              <a:rPr sz="1400">
                <a:solidFill>
                  <a:srgbClr val="1A1A1A"/>
                </a:solidFill>
                <a:latin typeface="Segoe UI"/>
              </a:rPr>
              <a:t>Manual "Artisanal" models cannot sustain volume; Jan 2026 added 50.6 lakh new folios.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D63031"/>
                </a:solidFill>
              </a:rPr>
              <a:t>▸  </a:t>
            </a:r>
            <a:r>
              <a:rPr sz="1400">
                <a:solidFill>
                  <a:srgbClr val="1A1A1A"/>
                </a:solidFill>
                <a:latin typeface="Segoe UI"/>
              </a:rPr>
              <a:t>Tech-enabled firms achieve 52% higher profit margins through operational automation.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D63031"/>
                </a:solidFill>
              </a:rPr>
              <a:t>▸  </a:t>
            </a:r>
            <a:r>
              <a:rPr sz="1400">
                <a:solidFill>
                  <a:srgbClr val="1A1A1A"/>
                </a:solidFill>
                <a:latin typeface="Segoe UI"/>
              </a:rPr>
              <a:t>Analytics-driven advisors grow AUM 38% faster than the industry average.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D63031"/>
                </a:solidFill>
              </a:rPr>
              <a:t>▸  </a:t>
            </a:r>
            <a:r>
              <a:rPr sz="1400">
                <a:solidFill>
                  <a:srgbClr val="1A1A1A"/>
                </a:solidFill>
                <a:latin typeface="Segoe UI"/>
              </a:rPr>
              <a:t>Direct Plan AUM grew 43.5% in 2025, necessitating a value-driven service pivot.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18288" cy="4114800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486400" cy="3657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5623560"/>
            <a:ext cx="11247120" cy="594360"/>
          </a:xfrm>
          <a:prstGeom prst="roundRect">
            <a:avLst/>
          </a:prstGeom>
          <a:solidFill>
            <a:srgbClr val="FDECEA"/>
          </a:solidFill>
          <a:ln w="12700">
            <a:solidFill>
              <a:srgbClr val="D63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63031"/>
                </a:solidFill>
              </a:rPr>
              <a:t>★ </a:t>
            </a:r>
            <a:r>
              <a:rPr sz="1100" b="1">
                <a:solidFill>
                  <a:srgbClr val="D63031"/>
                </a:solidFill>
                <a:latin typeface="Segoe UI"/>
              </a:rPr>
              <a:t>KEY INSIGHT: </a:t>
            </a:r>
            <a:r>
              <a:rPr sz="1100">
                <a:solidFill>
                  <a:srgbClr val="1A1A1A"/>
                </a:solidFill>
                <a:latin typeface="Segoe UI"/>
              </a:rPr>
              <a:t>To capture the ₹100T opportunity, MFDs must pivot from 'Artisanal' to 'Industrial' models using technology.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C8C8C"/>
                </a:solidFill>
                <a:latin typeface="Segoe UI"/>
              </a:defRPr>
            </a:pPr>
            <a:r>
              <a:t>Client Databases: The Invisible Engine Behind Scal...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00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C8C8C"/>
                </a:solidFill>
                <a:latin typeface="Segoe UI"/>
              </a:defRPr>
            </a:pPr>
            <a:r>
              <a:t>Slide 2 of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B0000"/>
                </a:solidFill>
                <a:latin typeface="Segoe UI"/>
              </a:defRPr>
            </a:pPr>
            <a:r>
              <a:t>Manual Operations Cannot Withstand the ₹100 Trillion Tsunami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2743200" cy="36576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D63031"/>
                </a:solidFill>
              </a:rPr>
              <a:t>▸  </a:t>
            </a:r>
            <a:r>
              <a:rPr sz="1400">
                <a:solidFill>
                  <a:srgbClr val="1A1A1A"/>
                </a:solidFill>
                <a:latin typeface="Segoe UI"/>
              </a:rPr>
              <a:t>Industry AUM skyrocketed 8x from ₹10T (2014) to ₹81.8T (Jan 2026).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D63031"/>
                </a:solidFill>
              </a:rPr>
              <a:t>▸  </a:t>
            </a:r>
            <a:r>
              <a:rPr sz="1400">
                <a:solidFill>
                  <a:srgbClr val="1A1A1A"/>
                </a:solidFill>
                <a:latin typeface="Segoe UI"/>
              </a:rPr>
              <a:t>Market trajectory targets ₹100 Trillion by 2030 at ~14-20% CAGR.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D63031"/>
                </a:solidFill>
              </a:rPr>
              <a:t>▸  </a:t>
            </a:r>
            <a:r>
              <a:rPr sz="1400">
                <a:solidFill>
                  <a:srgbClr val="1A1A1A"/>
                </a:solidFill>
                <a:latin typeface="Segoe UI"/>
              </a:rPr>
              <a:t>Monthly SIP inflows grew 10x to over ₹31,000 Crore.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D63031"/>
                </a:solidFill>
              </a:rPr>
              <a:t>▸  </a:t>
            </a:r>
            <a:r>
              <a:rPr sz="1400">
                <a:solidFill>
                  <a:srgbClr val="1A1A1A"/>
                </a:solidFill>
                <a:latin typeface="Segoe UI"/>
              </a:rPr>
              <a:t>Volume exceeds 100 million monthly transactions, overwhelming manual ledgers.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D63031"/>
                </a:solidFill>
              </a:rPr>
              <a:t>▸  </a:t>
            </a:r>
            <a:r>
              <a:rPr sz="1400">
                <a:solidFill>
                  <a:srgbClr val="1A1A1A"/>
                </a:solidFill>
                <a:latin typeface="Segoe UI"/>
              </a:rPr>
              <a:t>Tech-enabled distributors capture 38% faster AUM growth vs. manual peers.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18288" cy="4114800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486400" cy="3657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5623560"/>
            <a:ext cx="11247120" cy="594360"/>
          </a:xfrm>
          <a:prstGeom prst="roundRect">
            <a:avLst/>
          </a:prstGeom>
          <a:solidFill>
            <a:srgbClr val="FDECEA"/>
          </a:solidFill>
          <a:ln w="12700">
            <a:solidFill>
              <a:srgbClr val="D63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63031"/>
                </a:solidFill>
              </a:rPr>
              <a:t>★ </a:t>
            </a:r>
            <a:r>
              <a:rPr sz="1100" b="1">
                <a:solidFill>
                  <a:srgbClr val="D63031"/>
                </a:solidFill>
                <a:latin typeface="Segoe UI"/>
              </a:rPr>
              <a:t>KEY INSIGHT: </a:t>
            </a:r>
            <a:r>
              <a:rPr sz="1100">
                <a:solidFill>
                  <a:srgbClr val="1A1A1A"/>
                </a:solidFill>
                <a:latin typeface="Segoe UI"/>
              </a:rPr>
              <a:t>The market is compounding at ~20% CAGR; manual reconciliation cannot withstand the velocity of 100 million monthly transactions.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C8C8C"/>
                </a:solidFill>
                <a:latin typeface="Segoe UI"/>
              </a:defRPr>
            </a:pPr>
            <a:r>
              <a:t>Client Databases: The Invisible Engine Behind Scal...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00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C8C8C"/>
                </a:solidFill>
                <a:latin typeface="Segoe UI"/>
              </a:defRPr>
            </a:pPr>
            <a:r>
              <a:t>Slide 3 of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B0000"/>
                </a:solidFill>
                <a:latin typeface="Segoe UI"/>
              </a:defRPr>
            </a:pPr>
            <a:r>
              <a:t>Tech-Enabled Firms Grow Faster and Retain More Earnings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2743200" cy="36576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64592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 marL="73152" marR="73152" marT="45720" marB="45720"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 Firm</a:t>
                      </a:r>
                    </a:p>
                  </a:txBody>
                  <a:tcPr marL="73152" marR="73152" marT="45720" marB="45720"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Tech-Enabled Firm</a:t>
                      </a:r>
                    </a:p>
                  </a:txBody>
                  <a:tcPr marL="73152" marR="73152" marT="45720" marB="45720"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The Tech Advantage</a:t>
                      </a:r>
                    </a:p>
                  </a:txBody>
                  <a:tcPr marL="73152" marR="73152" marT="45720" marB="45720">
                    <a:solidFill>
                      <a:srgbClr val="8B000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New Asset Growth</a:t>
                      </a:r>
                    </a:p>
                  </a:txBody>
                  <a:tcPr marL="73152" marR="73152" marT="45720" marB="45720">
                    <a:solidFill>
                      <a:srgbClr val="FD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Baseline</a:t>
                      </a:r>
                    </a:p>
                  </a:txBody>
                  <a:tcPr marL="73152" marR="73152" marT="45720" marB="45720">
                    <a:solidFill>
                      <a:srgbClr val="FD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+68% New Assets</a:t>
                      </a:r>
                    </a:p>
                  </a:txBody>
                  <a:tcPr marL="73152" marR="73152" marT="45720" marB="45720">
                    <a:solidFill>
                      <a:srgbClr val="FD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1.7x Acceleration</a:t>
                      </a:r>
                    </a:p>
                  </a:txBody>
                  <a:tcPr marL="73152" marR="73152" marT="45720" marB="45720">
                    <a:solidFill>
                      <a:srgbClr val="FDF5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Profit Margin (EBOC)</a:t>
                      </a:r>
                    </a:p>
                  </a:txBody>
                  <a:tcPr marL="73152" marR="73152" marT="45720" marB="45720">
                    <a:solidFill>
                      <a:srgbClr val="FF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42%</a:t>
                      </a:r>
                    </a:p>
                  </a:txBody>
                  <a:tcPr marL="73152" marR="73152" marT="45720" marB="45720">
                    <a:solidFill>
                      <a:srgbClr val="FF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66%</a:t>
                      </a:r>
                    </a:p>
                  </a:txBody>
                  <a:tcPr marL="73152" marR="73152" marT="45720" marB="45720">
                    <a:solidFill>
                      <a:srgbClr val="FF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+57% Profitability</a:t>
                      </a:r>
                    </a:p>
                  </a:txBody>
                  <a:tcPr marL="73152" marR="73152" marT="45720" marB="45720">
                    <a:solidFill>
                      <a:srgbClr val="FFFA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Revenue Per Advisor</a:t>
                      </a:r>
                    </a:p>
                  </a:txBody>
                  <a:tcPr marL="73152" marR="73152" marT="45720" marB="45720">
                    <a:solidFill>
                      <a:srgbClr val="FD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₹1.5 Cr (Est.)</a:t>
                      </a:r>
                    </a:p>
                  </a:txBody>
                  <a:tcPr marL="73152" marR="73152" marT="45720" marB="45720">
                    <a:solidFill>
                      <a:srgbClr val="FD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₹2.5 Cr+</a:t>
                      </a:r>
                    </a:p>
                  </a:txBody>
                  <a:tcPr marL="73152" marR="73152" marT="45720" marB="45720">
                    <a:solidFill>
                      <a:srgbClr val="FD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~66% Higher Efficiency</a:t>
                      </a:r>
                    </a:p>
                  </a:txBody>
                  <a:tcPr marL="73152" marR="73152" marT="45720" marB="45720">
                    <a:solidFill>
                      <a:srgbClr val="FDF5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Client Closing Rate</a:t>
                      </a:r>
                    </a:p>
                  </a:txBody>
                  <a:tcPr marL="73152" marR="73152" marT="45720" marB="45720">
                    <a:solidFill>
                      <a:srgbClr val="FF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68%</a:t>
                      </a:r>
                    </a:p>
                  </a:txBody>
                  <a:tcPr marL="73152" marR="73152" marT="45720" marB="45720">
                    <a:solidFill>
                      <a:srgbClr val="FF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73%</a:t>
                      </a:r>
                    </a:p>
                  </a:txBody>
                  <a:tcPr marL="73152" marR="73152" marT="45720" marB="45720">
                    <a:solidFill>
                      <a:srgbClr val="FF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+5% Conversion Boost</a:t>
                      </a:r>
                    </a:p>
                  </a:txBody>
                  <a:tcPr marL="73152" marR="73152" marT="45720" marB="45720">
                    <a:solidFill>
                      <a:srgbClr val="FFFA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39496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C8C8C"/>
                </a:solidFill>
              </a:defRPr>
            </a:pPr>
            <a:r>
              <a:t>Sources: Charles Schwab RIA Benchmarking (2025), Fidelity (2024), Kitces (2024)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C8C8C"/>
                </a:solidFill>
                <a:latin typeface="Segoe UI"/>
              </a:defRPr>
            </a:pPr>
            <a:r>
              <a:t>Client Databases: The Invisible Engine Behind Scal...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400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C8C8C"/>
                </a:solidFill>
                <a:latin typeface="Segoe UI"/>
              </a:defRPr>
            </a:pPr>
            <a:r>
              <a:t>Slide 4 of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B0000"/>
                </a:solidFill>
                <a:latin typeface="Segoe UI"/>
              </a:defRPr>
            </a:pPr>
            <a:r>
              <a:t>Automating Operations to Unlock Advisory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2743200" cy="36576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D63031"/>
                </a:solidFill>
              </a:rPr>
              <a:t>▸  </a:t>
            </a:r>
            <a:r>
              <a:rPr sz="1400">
                <a:solidFill>
                  <a:srgbClr val="1A1A1A"/>
                </a:solidFill>
                <a:latin typeface="Segoe UI"/>
              </a:rPr>
              <a:t>Automated platforms save 6.2 hours weekly by eliminating manual data reconciliation.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D63031"/>
                </a:solidFill>
              </a:rPr>
              <a:t>▸  </a:t>
            </a:r>
            <a:r>
              <a:rPr sz="1400">
                <a:solidFill>
                  <a:srgbClr val="1A1A1A"/>
                </a:solidFill>
                <a:latin typeface="Segoe UI"/>
              </a:rPr>
              <a:t>Streamlines critical workflows: portfolio rebalancing, SIP registration, and KYC compliance.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D63031"/>
                </a:solidFill>
              </a:rPr>
              <a:t>▸  </a:t>
            </a:r>
            <a:r>
              <a:rPr sz="1400">
                <a:solidFill>
                  <a:srgbClr val="1A1A1A"/>
                </a:solidFill>
                <a:latin typeface="Segoe UI"/>
              </a:rPr>
              <a:t>Seamless RTA integration (CAMS/KFintech) ensures real-time data flow and accuracy.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D63031"/>
                </a:solidFill>
              </a:rPr>
              <a:t>▸  </a:t>
            </a:r>
            <a:r>
              <a:rPr sz="1400">
                <a:solidFill>
                  <a:srgbClr val="1A1A1A"/>
                </a:solidFill>
                <a:latin typeface="Segoe UI"/>
              </a:rPr>
              <a:t>Shifts focus from back-office administration to high-value front-office relationship mining.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D63031"/>
                </a:solidFill>
              </a:rPr>
              <a:t>▸  </a:t>
            </a:r>
            <a:r>
              <a:rPr sz="1400">
                <a:solidFill>
                  <a:srgbClr val="1A1A1A"/>
                </a:solidFill>
                <a:latin typeface="Segoe UI"/>
              </a:rPr>
              <a:t>Enables scalability to handle the 17% YoY surge in SIP volumes.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18288" cy="4114800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486400" cy="3657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5623560"/>
            <a:ext cx="11247120" cy="594360"/>
          </a:xfrm>
          <a:prstGeom prst="roundRect">
            <a:avLst/>
          </a:prstGeom>
          <a:solidFill>
            <a:srgbClr val="FDECEA"/>
          </a:solidFill>
          <a:ln w="12700">
            <a:solidFill>
              <a:srgbClr val="D63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63031"/>
                </a:solidFill>
              </a:rPr>
              <a:t>★ </a:t>
            </a:r>
            <a:r>
              <a:rPr sz="1100" b="1">
                <a:solidFill>
                  <a:srgbClr val="D63031"/>
                </a:solidFill>
                <a:latin typeface="Segoe UI"/>
              </a:rPr>
              <a:t>KEY INSIGHT: </a:t>
            </a:r>
            <a:r>
              <a:rPr sz="1100">
                <a:solidFill>
                  <a:srgbClr val="1A1A1A"/>
                </a:solidFill>
                <a:latin typeface="Segoe UI"/>
              </a:rPr>
              <a:t>Reclaiming 6.2 hours a week allows advisors to focus on relationship mining, not data entry.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C8C8C"/>
                </a:solidFill>
                <a:latin typeface="Segoe UI"/>
              </a:defRPr>
            </a:pPr>
            <a:r>
              <a:t>Client Databases: The Invisible Engine Behind Scal...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00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C8C8C"/>
                </a:solidFill>
                <a:latin typeface="Segoe UI"/>
              </a:defRPr>
            </a:pPr>
            <a:r>
              <a:t>Slide 5 of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B0000"/>
                </a:solidFill>
                <a:latin typeface="Segoe UI"/>
              </a:defRPr>
            </a:pPr>
            <a:r>
              <a:t>Automate Operations to Mitigate Folio Volume Liability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2743200" cy="36576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D63031"/>
                </a:solidFill>
              </a:rPr>
              <a:t>▸  </a:t>
            </a:r>
            <a:r>
              <a:rPr sz="1400">
                <a:solidFill>
                  <a:srgbClr val="1A1A1A"/>
                </a:solidFill>
                <a:latin typeface="Segoe UI"/>
              </a:rPr>
              <a:t>Folio count surged to 26.63 crore in 2026, creating vertical operational growth.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D63031"/>
                </a:solidFill>
              </a:rPr>
              <a:t>▸  </a:t>
            </a:r>
            <a:r>
              <a:rPr sz="1400">
                <a:solidFill>
                  <a:srgbClr val="1A1A1A"/>
                </a:solidFill>
                <a:latin typeface="Segoe UI"/>
              </a:rPr>
              <a:t>Monthly SIP inflows crossed ₹31,000 crore, triggering ~100 million automated transactions.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D63031"/>
                </a:solidFill>
              </a:rPr>
              <a:t>▸  </a:t>
            </a:r>
            <a:r>
              <a:rPr sz="1400">
                <a:solidFill>
                  <a:srgbClr val="1A1A1A"/>
                </a:solidFill>
                <a:latin typeface="Segoe UI"/>
              </a:rPr>
              <a:t>Investors now hold 3.5 to 4 folios on average, complicating portfolio tracking.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D63031"/>
                </a:solidFill>
              </a:rPr>
              <a:t>▸  </a:t>
            </a:r>
            <a:r>
              <a:rPr sz="1400">
                <a:solidFill>
                  <a:srgbClr val="1A1A1A"/>
                </a:solidFill>
                <a:latin typeface="Segoe UI"/>
              </a:rPr>
              <a:t>Average distributor manages ~1,317 distinct folios, making manual reconciliation mathematically impossible.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D63031"/>
                </a:solidFill>
              </a:rPr>
              <a:t>▸  </a:t>
            </a:r>
            <a:r>
              <a:rPr sz="1400">
                <a:solidFill>
                  <a:srgbClr val="1A1A1A"/>
                </a:solidFill>
                <a:latin typeface="Segoe UI"/>
              </a:rPr>
              <a:t>Non-digitized operations face direct regulatory liability for service deficiencies under SEBI norms.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18288" cy="4114800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486400" cy="36576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57200" y="5623560"/>
            <a:ext cx="11247120" cy="594360"/>
          </a:xfrm>
          <a:prstGeom prst="roundRect">
            <a:avLst/>
          </a:prstGeom>
          <a:solidFill>
            <a:srgbClr val="FDECEA"/>
          </a:solidFill>
          <a:ln w="12700">
            <a:solidFill>
              <a:srgbClr val="D63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63031"/>
                </a:solidFill>
              </a:rPr>
              <a:t>★ </a:t>
            </a:r>
            <a:r>
              <a:rPr sz="1100" b="1">
                <a:solidFill>
                  <a:srgbClr val="D63031"/>
                </a:solidFill>
                <a:latin typeface="Segoe UI"/>
              </a:rPr>
              <a:t>KEY INSIGHT: </a:t>
            </a:r>
            <a:r>
              <a:rPr sz="1100">
                <a:solidFill>
                  <a:srgbClr val="1A1A1A"/>
                </a:solidFill>
                <a:latin typeface="Segoe UI"/>
              </a:rPr>
              <a:t>Manual tracking of 26+ crore folios creates unsustainable operational density and regulatory liability risks.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C8C8C"/>
                </a:solidFill>
                <a:latin typeface="Segoe UI"/>
              </a:defRPr>
            </a:pPr>
            <a:r>
              <a:t>Client Databases: The Invisible Engine Behind Scal...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00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C8C8C"/>
                </a:solidFill>
                <a:latin typeface="Segoe UI"/>
              </a:defRPr>
            </a:pPr>
            <a:r>
              <a:t>Slide 6 of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8B0000"/>
                </a:solidFill>
                <a:latin typeface="Segoe UI"/>
              </a:defRPr>
            </a:pPr>
            <a:r>
              <a:t>Adopt the Invisible Engine to Capture ₹100T Growth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2743200" cy="36576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D63031"/>
                </a:solidFill>
              </a:rPr>
              <a:t>▸  </a:t>
            </a:r>
            <a:r>
              <a:rPr sz="1400">
                <a:solidFill>
                  <a:srgbClr val="1A1A1A"/>
                </a:solidFill>
                <a:latin typeface="Segoe UI"/>
              </a:rPr>
              <a:t>**Summary**: Tech adoption delivers higher margins, time savings, and scalable volume.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D63031"/>
                </a:solidFill>
              </a:rPr>
              <a:t>▸  </a:t>
            </a:r>
            <a:r>
              <a:rPr sz="1400">
                <a:solidFill>
                  <a:srgbClr val="1A1A1A"/>
                </a:solidFill>
                <a:latin typeface="Segoe UI"/>
              </a:rPr>
              <a:t>**Recommendation**: Audit current CRM capabilities immediately to identify operational bottlenecks.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D63031"/>
                </a:solidFill>
              </a:rPr>
              <a:t>▸  </a:t>
            </a:r>
            <a:r>
              <a:rPr sz="1400">
                <a:solidFill>
                  <a:srgbClr val="1A1A1A"/>
                </a:solidFill>
                <a:latin typeface="Segoe UI"/>
              </a:rPr>
              <a:t>**Goal**: Prepare infrastructure today to manage 2030's projected ₹100 Trillion volume.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000">
                <a:solidFill>
                  <a:srgbClr val="D63031"/>
                </a:solidFill>
              </a:rPr>
              <a:t>▸  </a:t>
            </a:r>
            <a:r>
              <a:rPr sz="1400">
                <a:solidFill>
                  <a:srgbClr val="1A1A1A"/>
                </a:solidFill>
                <a:latin typeface="Segoe UI"/>
              </a:rPr>
              <a:t>**Context**: 61.4% retail AUM share demands digital-first, high-volume service models.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18288" cy="4114800"/>
          </a:xfrm>
          <a:prstGeom prst="rect">
            <a:avLst/>
          </a:prstGeom>
          <a:solidFill>
            <a:srgbClr val="D630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645920"/>
          <a:ext cx="5486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Growth Metric</a:t>
                      </a:r>
                    </a:p>
                  </a:txBody>
                  <a:tcPr marL="73152" marR="73152" marT="45720" marB="45720"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Current Statistic</a:t>
                      </a:r>
                    </a:p>
                  </a:txBody>
                  <a:tcPr marL="73152" marR="73152" marT="45720" marB="45720"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Strategic Implication</a:t>
                      </a:r>
                    </a:p>
                  </a:txBody>
                  <a:tcPr marL="73152" marR="73152" marT="45720" marB="45720">
                    <a:solidFill>
                      <a:srgbClr val="8B000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Market Projection</a:t>
                      </a:r>
                    </a:p>
                  </a:txBody>
                  <a:tcPr marL="73152" marR="73152" marT="45720" marB="45720">
                    <a:solidFill>
                      <a:srgbClr val="FD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₹100 Trillion AUM by 2030</a:t>
                      </a:r>
                    </a:p>
                  </a:txBody>
                  <a:tcPr marL="73152" marR="73152" marT="45720" marB="45720">
                    <a:solidFill>
                      <a:srgbClr val="FD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Volume requires automated scalability</a:t>
                      </a:r>
                    </a:p>
                  </a:txBody>
                  <a:tcPr marL="73152" marR="73152" marT="45720" marB="45720">
                    <a:solidFill>
                      <a:srgbClr val="FDF5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SIP Velocity</a:t>
                      </a:r>
                    </a:p>
                  </a:txBody>
                  <a:tcPr marL="73152" marR="73152" marT="45720" marB="45720">
                    <a:solidFill>
                      <a:srgbClr val="FF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₹26,459 Cr Monthly Inflows</a:t>
                      </a:r>
                    </a:p>
                  </a:txBody>
                  <a:tcPr marL="73152" marR="73152" marT="45720" marB="45720">
                    <a:solidFill>
                      <a:srgbClr val="FF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High frequency demands zero-touch processing</a:t>
                      </a:r>
                    </a:p>
                  </a:txBody>
                  <a:tcPr marL="73152" marR="73152" marT="45720" marB="45720">
                    <a:solidFill>
                      <a:srgbClr val="FFFA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Retail Dominance</a:t>
                      </a:r>
                    </a:p>
                  </a:txBody>
                  <a:tcPr marL="73152" marR="73152" marT="45720" marB="45720">
                    <a:solidFill>
                      <a:srgbClr val="FD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61.4% of Total AUM</a:t>
                      </a:r>
                    </a:p>
                  </a:txBody>
                  <a:tcPr marL="73152" marR="73152" marT="45720" marB="45720">
                    <a:solidFill>
                      <a:srgbClr val="FDF5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Service model must be digital-first</a:t>
                      </a:r>
                    </a:p>
                  </a:txBody>
                  <a:tcPr marL="73152" marR="73152" marT="45720" marB="45720">
                    <a:solidFill>
                      <a:srgbClr val="FDF5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Digital Adoption</a:t>
                      </a:r>
                    </a:p>
                  </a:txBody>
                  <a:tcPr marL="73152" marR="73152" marT="45720" marB="45720">
                    <a:solidFill>
                      <a:srgbClr val="FF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99.7% of Payment Volumes</a:t>
                      </a:r>
                    </a:p>
                  </a:txBody>
                  <a:tcPr marL="73152" marR="73152" marT="45720" marB="45720">
                    <a:solidFill>
                      <a:srgbClr val="FFFA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1A"/>
                          </a:solidFill>
                        </a:defRPr>
                      </a:pPr>
                      <a:r>
                        <a:t>Infrastructure must be fully cashless</a:t>
                      </a:r>
                    </a:p>
                  </a:txBody>
                  <a:tcPr marL="73152" marR="73152" marT="45720" marB="45720">
                    <a:solidFill>
                      <a:srgbClr val="FFFAF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539496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8C8C8C"/>
                </a:solidFill>
              </a:defRPr>
            </a:pPr>
            <a:r>
              <a:t>Source: Axis Capital (2024), AMFI (Dec 2024), RBI Payment Report (2024)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623560"/>
            <a:ext cx="11247120" cy="594360"/>
          </a:xfrm>
          <a:prstGeom prst="roundRect">
            <a:avLst/>
          </a:prstGeom>
          <a:solidFill>
            <a:srgbClr val="FDECEA"/>
          </a:solidFill>
          <a:ln w="12700">
            <a:solidFill>
              <a:srgbClr val="D630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D63031"/>
                </a:solidFill>
              </a:rPr>
              <a:t>★ </a:t>
            </a:r>
            <a:r>
              <a:rPr sz="1100" b="1">
                <a:solidFill>
                  <a:srgbClr val="D63031"/>
                </a:solidFill>
                <a:latin typeface="Segoe UI"/>
              </a:rPr>
              <a:t>KEY INSIGHT: </a:t>
            </a:r>
            <a:r>
              <a:rPr sz="1100">
                <a:solidFill>
                  <a:srgbClr val="1A1A1A"/>
                </a:solidFill>
                <a:latin typeface="Segoe UI"/>
              </a:rPr>
              <a:t>Adopt the 'Invisible Engine' to secure your share of the ₹100 Trillion market.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09360"/>
            <a:ext cx="10881360" cy="13716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C8C8C"/>
                </a:solidFill>
                <a:latin typeface="Segoe UI"/>
              </a:defRPr>
            </a:pPr>
            <a:r>
              <a:t>Client Databases: The Invisible Engine Behind Scal...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00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C8C8C"/>
                </a:solidFill>
                <a:latin typeface="Segoe UI"/>
              </a:defRPr>
            </a:pPr>
            <a:r>
              <a:t>Slide 7 of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