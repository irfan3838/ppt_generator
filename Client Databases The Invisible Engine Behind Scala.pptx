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Pivot to Database-First: Scaling for ₹100 Trillion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Small-ticket SIPs (&lt;₹500) grew 106% in FY25, outpacing high-value segments by 4x.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B30 cities drive 50% of new investors but average only ₹1.13 Lakh ticket size.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Transaction velocity surged to 663 million in FY25, creating massive operational bottlenecks.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Revenue parity with 2020 now requires processing 3x the volume due to margin compression.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70% of equity assets remain with MFDs, demanding automated segmentation to retain trust.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63031"/>
                </a:solidFill>
              </a:rPr>
              <a:t>KEY INSIGHT: </a:t>
            </a:r>
            <a:r>
              <a:rPr sz="1100">
                <a:solidFill>
                  <a:srgbClr val="1A1A1A"/>
                </a:solidFill>
              </a:rPr>
              <a:t>To survive the high-volume, low-ticket economy, MFDs must treat their database as their primary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Automate Operations to Capture the 10x Volume Surge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B2A4A"/>
                </a:solidFill>
              </a:defRPr>
            </a:pPr>
            <a:r>
              <a:t>Key Findings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  Implement a centralized database immediately to manage exponential client volume.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  Monthly SIP inflows surged 64% to ₹31,002 Cr in just 24 months.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  Average ticket size dropped to ₹2,476, requiring high-volume automated processing.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  Digital scaling delivers 40-50% efficiency gains, preparing for 100M investors.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Manual scaling is mathematically impossible with a 5x-10x volume increase; a database-first approach is the only viable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Riding the ₹100 Trillion Wave: A Deterministic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Industry AUM grew ~80-fold from ₹1.03 Lakh Cr (2000) to ₹82 Lakh Cr (2026).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Velocity accelerated: Added ₹28 Trillion in ~2 years versus 14 years for the first ₹10T.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Monthly SIP inflows hit record ₹31,002 Cr, providing a massive domestic liquidity cushion.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Digital adoption drove folio count to 26.63 Crore, with &gt;50% new investors from B30 cities.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Conservative estimates project crossing ₹100 Trillion by 2030, ignoring aggressive ₹150T scenarios.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63031"/>
                </a:solidFill>
              </a:rPr>
              <a:t>KEY INSIGHT: </a:t>
            </a:r>
            <a:r>
              <a:rPr sz="1100">
                <a:solidFill>
                  <a:srgbClr val="1A1A1A"/>
                </a:solidFill>
              </a:rPr>
              <a:t>The industry has crossed a critical inflection point, putting the ₹100 Trillion target by 2030 on a deterministic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Profitability Now Hinges on High-Volume Micro-SIPs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Monthly SIP inflows doubled to ₹31,002 crore (Dec 2025) driven by volume.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Average ticket size stagnated at ~₹2,500, proving mass retail adoption.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Micro-SIPs (&lt;₹500) surged 106%, while high-ticket SIPs grew only 24%.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Revenue model requires 10x client volume to match historical high-ticket value.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63031"/>
                </a:solidFill>
              </a:rPr>
              <a:t>KEY INSIGHT: </a:t>
            </a:r>
            <a:r>
              <a:rPr sz="1100">
                <a:solidFill>
                  <a:srgbClr val="1A1A1A"/>
                </a:solidFill>
              </a:rPr>
              <a:t>Profitability has decoupled from 'high net worth' and is now driven by 'high volume' SIPs.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Breaking Manual Bottlenecks to Unlock Exponential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Metric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/ Physical Model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Digital / Tech-First Model</a:t>
                      </a:r>
                    </a:p>
                  </a:txBody>
                  <a:tcPr marL="73152" marR="73152" marT="45720" marB="45720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Client Capacity per RM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~150 Clients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1,000+ Clients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Onboarding Time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1-2 Business Days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&lt; 10 Minutes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Geographic Reach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Hyper-Local (&lt; 20 km)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Pan-India / B30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Cost of Acquisition (CAC)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₹1,000 - ₹5,000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₹200 - ₹1,000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RM Productivity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30% Client-Facing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3E50"/>
                          </a:solidFill>
                        </a:defRPr>
                      </a:pPr>
                      <a:r>
                        <a:t>80%+ Client-Facing</a:t>
                      </a:r>
                    </a:p>
                  </a:txBody>
                  <a:tcPr marL="73152" marR="73152" marT="45720" marB="4572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</a:defRPr>
            </a:pPr>
            <a:r>
              <a:t>Sources: Deloitte (2025), Backbase (2025), Bajaj Finserv / Star Global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Distinguish Regulatory Noise From Structural Growth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April 2025's 353% stoppage spike reflected dormant folio cleanup, not client exits.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1.43 crore non-operative folios were extinguished due to retrospective SEBI norms.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Normalized stoppage ratio stabilized at ~74.5% immediately post-cleanup.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Active SIP accounts grew to 9.92 crore by Jan 2026 despite "panic."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Strategic imperative: Ignore anomalies; infrastructure investment must match 17.2% inflow growth.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63031"/>
                </a:solidFill>
              </a:rPr>
              <a:t>KEY INSIGHT: </a:t>
            </a:r>
            <a:r>
              <a:rPr sz="1100">
                <a:solidFill>
                  <a:srgbClr val="1A1A1A"/>
                </a:solidFill>
              </a:rPr>
              <a:t>Recent data spikes were regulatory cleanups, not client exits; the long-term trend remains sticky.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00"/>
                </a:solidFill>
              </a:defRPr>
            </a:pPr>
            <a:r>
              <a:t>Centralize Data to Automate Mass Personalization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Automate onboarding and KYC to manage 22.50 crore folios efficiently.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Service B30 cities remotely, capturing 19% of industry assets without branches.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Manage 80% equity folio exposure using automated risk alerts and rebalancing.</a:t>
            </a:r>
          </a:p>
          <a:p>
            <a:pPr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t>  Decouple profitability from ticket size by handling volume at near-zero cost.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03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41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63031"/>
                </a:solidFill>
              </a:rPr>
              <a:t>KEY INSIGHT: </a:t>
            </a:r>
            <a:r>
              <a:rPr sz="1100">
                <a:solidFill>
                  <a:srgbClr val="1A1A1A"/>
                </a:solidFill>
              </a:rPr>
              <a:t>A centralized database allows for 'Mass Personalization'—treating 10,000 clients like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8C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