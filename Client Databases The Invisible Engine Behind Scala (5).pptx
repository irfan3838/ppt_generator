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100000">
              <a:srgbClr val="2A2A4E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Industrializing Advice: Databases Drive Scalable MFD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657600"/>
            <a:ext cx="3931920" cy="54864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"/>
              </a:defRPr>
            </a:pPr>
            <a:r>
              <a:t>The integration of client databases transforms advisory from manual transactions to scalable, industrial-grade wealth management.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Segoe UI"/>
              </a:defRPr>
            </a:pPr>
            <a:r>
              <a:t>Automate Monitoring to Capture the Equity Revenue Pivot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Equity-oriented schemes now comprise 59.7% of industry assets, up from 45% in 2019.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Monthly SIP inflows surged 123% to ₹31,002 Crore between 2023 and 2025.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Equity dominance requires active portfolio monitoring unlike passive debt-heavy models.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Automated databases track rebalancing triggers across millions of folios instantly.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0D3D36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6A085"/>
                </a:solidFill>
              </a:rPr>
              <a:t>★ </a:t>
            </a:r>
            <a:r>
              <a:rPr sz="1100" b="1">
                <a:solidFill>
                  <a:srgbClr val="16A085"/>
                </a:solidFill>
                <a:latin typeface="Segoe UI"/>
              </a:rPr>
              <a:t>KEY INSIGHT: </a:t>
            </a:r>
            <a:r>
              <a:rPr sz="1100">
                <a:solidFill>
                  <a:srgbClr val="ECF0F1"/>
                </a:solidFill>
                <a:latin typeface="Segoe UI"/>
              </a:rPr>
              <a:t>Equity dominance (~60% of AUM) demands data-led monitoring to manage volatility and sustain revenue.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  <a:latin typeface="Segoe UI"/>
              </a:defRPr>
            </a:pPr>
            <a:r>
              <a:t>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Segoe UI"/>
              </a:defRPr>
            </a:pPr>
            <a:r>
              <a:t>SIP Flywheel: Surging Inflows Drive Operational Complexity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Monthly SIP book hit ₹31,000 Cr in Jan 2026, rising 123% since 2023.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Active accounts reached 10.29 Crore, drastically increasing data management volume.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Predictable inflows require minimal intervention only if digital mandates are robust.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Industry added ~4.08 Crore net new accounts, compounding reconciliation efforts.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0D3D36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6A085"/>
                </a:solidFill>
              </a:rPr>
              <a:t>★ </a:t>
            </a:r>
            <a:r>
              <a:rPr sz="1100" b="1">
                <a:solidFill>
                  <a:srgbClr val="16A085"/>
                </a:solidFill>
                <a:latin typeface="Segoe UI"/>
              </a:rPr>
              <a:t>KEY INSIGHT: </a:t>
            </a:r>
            <a:r>
              <a:rPr sz="1100">
                <a:solidFill>
                  <a:srgbClr val="ECF0F1"/>
                </a:solidFill>
                <a:latin typeface="Segoe UI"/>
              </a:rPr>
              <a:t>Consistent inflows of ₹31k Cr/month create a compounding data management challenge.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  <a:latin typeface="Segoe UI"/>
              </a:defRPr>
            </a:pPr>
            <a:r>
              <a:t>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Segoe UI"/>
              </a:defRPr>
            </a:pPr>
            <a:r>
              <a:t>Scaling Reach: Digital Infrastructure Unlocks B30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56% of new SIP registrations now originate from B30 cities (FY25).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B30 assets are high-quality, with 76.6% allocated to sticky equity schemes.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Cloud infrastructure enables low-cost service for smaller, remote ticket sizes.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Digital adoption surged, with 49% of B30 SIPs via Direct Plans.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0D3D36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6A085"/>
                </a:solidFill>
              </a:rPr>
              <a:t>★ </a:t>
            </a:r>
            <a:r>
              <a:rPr sz="1100" b="1">
                <a:solidFill>
                  <a:srgbClr val="16A085"/>
                </a:solidFill>
                <a:latin typeface="Segoe UI"/>
              </a:rPr>
              <a:t>KEY INSIGHT: </a:t>
            </a:r>
            <a:r>
              <a:rPr sz="1100">
                <a:solidFill>
                  <a:srgbClr val="ECF0F1"/>
                </a:solidFill>
                <a:latin typeface="Segoe UI"/>
              </a:rPr>
              <a:t>B30 regions now contribute 56% of new inflows, accessible profitably only via low-cost digital channels.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  <a:latin typeface="Segoe UI"/>
              </a:defRPr>
            </a:pPr>
            <a:r>
              <a:t>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Segoe UI"/>
              </a:defRPr>
            </a:pPr>
            <a:r>
              <a:t>Targeting ₹100 Trillion AUM Through Tech-Driven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Conservative estimates project industry AUM doubling to ₹100 Trillion by 2030.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Growth fueled by financialization of savings and ₹1 Trillion monthly SIP target.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Tech-heavy firms are 3.3x more likely to achieve top-quartile growth rates.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16A085"/>
                </a:solidFill>
              </a:rPr>
              <a:t>▸  </a:t>
            </a:r>
            <a:r>
              <a:rPr sz="1400">
                <a:solidFill>
                  <a:srgbClr val="ECF0F1"/>
                </a:solidFill>
                <a:latin typeface="Segoe UI"/>
              </a:rPr>
              <a:t>With 90% digital transactions, competitive edge shifts to data-driven advisory.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0D3D36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6A085"/>
                </a:solidFill>
              </a:rPr>
              <a:t>★ </a:t>
            </a:r>
            <a:r>
              <a:rPr sz="1100" b="1">
                <a:solidFill>
                  <a:srgbClr val="16A085"/>
                </a:solidFill>
                <a:latin typeface="Segoe UI"/>
              </a:rPr>
              <a:t>KEY INSIGHT: </a:t>
            </a:r>
            <a:r>
              <a:rPr sz="1100">
                <a:solidFill>
                  <a:srgbClr val="ECF0F1"/>
                </a:solidFill>
                <a:latin typeface="Segoe UI"/>
              </a:rPr>
              <a:t>While market beta drives AUM to ₹100T, tech readiness is the alpha generator determining which firms capture the surplus.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  <a:latin typeface="Segoe UI"/>
              </a:defRPr>
            </a:pPr>
            <a:r>
              <a:t>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100000">
              <a:srgbClr val="2A2A4E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Prioritize CRM Investment to Automate Future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566160"/>
            <a:ext cx="3017520" cy="54864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"/>
              </a:defRPr>
            </a:pPr>
            <a:r>
              <a:t>Invest in the engine to win the race.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