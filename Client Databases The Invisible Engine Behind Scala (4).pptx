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Converging SIPs, Tech, and MFDs Drive Self-Sustaining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Industry AUM reached ₹81.01 Trillion in Jan 2026, driven by retail velocity.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Monthly SIP inflows hit record ₹31,002 crore, acting as stable, non-discretionary fuel.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Non-Bank MFDs grew 44% YoY, capturing 70% market share via tech-led scalability.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Retail and HNI investors now control 99.5% of folios, ensuring granular capital stability.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Growth Component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Trend / Insight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Output (Scale)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Industry AUM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₹81.01 Trillion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Validates 6x decade growth projection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Fuel (Retail)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Monthly SIP Inflow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₹31,002 Crore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Historic high; 10.29 Cr active accounts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Driver (Distribution)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Non-Bank MFD Growth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44% YoY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Outperforming Banks (30%)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Stability (Behavior)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Retail/HNI Folio Share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High granularity; 0.5% institutional share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029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</a:defRPr>
            </a:pPr>
            <a:r>
              <a:t>Sources: AMFI, ICICI Direct, AssetPlus Academy, India Infoline (Data as of Jan/Feb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The convergence of SIPs, Non-Bank MFDs, and Tech has created a self-sustaining growth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Exponential AUM Accumulation Outpaces Manual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Industry AUM surged 6x in the last decade, reaching ₹81.01 trillion in January 2026.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Velocity has accelerated dramatically: adding ₹10 trillion now takes months, not years.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The sprint from ₹50T to ₹60T took just 6 months, compared to 39 months for early milestones.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Record SIP inflows of ₹31,002 crore/month fuel this non-linear growth trajectory.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Legacy manual operations cannot scale to support this compressed transaction volume.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The velocity of asset accumulation has compressed from 39 months per ₹10T to under 9 months.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SIPs Anchor Market Stability Through Behavioral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Monthly inflows sustained ₹31,000 Cr+ levels, totaling ₹3.34 Lakh Cr in 2025.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Active accounts reached 10.29 Crore, showing resilience despite regulatory cleanup.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SIPs now drive 37% of gross equity inflows, acting as permanent capital.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Total SIP AUM stands at ₹16.36 Trillion, representing ~20% of industry assets.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Investor behavior shifted from "timing the market" to disciplined "time in the market."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SIPs have evolved from a simple product to a national behavioral lock-in.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Monthly SIP Inflows Breach ₹31,000 Cr, Validating Retail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Monthly inflows hit record ₹31,002 Cr in Dec 2025, rising 81% from 2023.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Momentum sustained in Jan 2026 (&gt;₹31,000 Cr) despite market volatility.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Active SIP accounts crossed the 10-crore milestone in Jan 2026.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SIP AUM reached ₹16.36 Lakh Cr, comprising ~20% of total industry assets.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Annual SIP collections surged 25% YoY to a record ₹3.34 Lakh Cr in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Monthly SIP inflows have structurally reset, crossing the ₹31,000 crore threshold and demonstrating resilience against market fluctuations.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Non-Bank MFDs Dominate Growth via Tech-First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Non-banks capture 75% of industry commissions, shrinking banks' share to just 25%.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Independent distributors grew AUM by 44% YoY in FY25, significantly outpacing banks' 30%.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Tech platforms like Prudent drive 40% CAGR by automating compliance and operations.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Non-banks control 70% of distributor assets, leveraging digital tools for deeper retail penetration.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Tech-first independent distributors now control 75% of commissions and 70% of assets, outpacing traditional banks.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Tech-Enabled MFDs Outpace Traditional Banks 4x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Scaling Operations: Databases Convert Potential Into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**Core Infrastructure:** CRM and RTA platforms unify over 10 crore investor folios.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**Speed:** Digital onboarding takes 180 seconds, replacing days of manual paperwork.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**Dominance:** Tech-enabled MFDs captured 70% market share via scalable automation.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**Retention:** Automated tracking maintains ~94% active contributing SIP ratio.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Tech-led infrastructure enables non-bank distributors to capture 70% of market share through superior scalability.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Accelerating Onboarding to 180 Seconds Revolutionizes Unit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Traditional onboarding took 20–30 days, burdened by physical forms and courier logistics.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Modern platforms utilize eKYC to compress the entire client entry process to 180 seconds.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Digital verification reduces Customer Acquisition Cost (CAC) by ~90%, unlocking small-ticket profitability.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Frictionless entry supports massive scale, driving 256 million folios and ₹31,000 Cr monthly inflows.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Process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Digital Engine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Business Impact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Time to Onboard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20–30 Days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180 Seconds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99.9% Faster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Acquisition Cost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High (Manual/Courier)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~90% Lower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Profitable Unit Economics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SIP Accounts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~3 Crore (2019)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10 Crore+ (2026)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3.3x Reach Expansion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Monthly Inflows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~₹8,000 Cr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₹31,000 Cr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~4x Volume Growth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029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</a:defRPr>
            </a:pPr>
            <a:r>
              <a:t>Sources: AssetPlus Platform Data (2026), AMFI Data (Oct 2025), Signzy Digital KYC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Compressing onboarding from 30 days to 180 seconds makes servicing small-ticket SIPs highly profitable.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Converging Gears Unlock Three High-Growth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Small towns now drive 54% of live SIP accounts, dominating retail volume.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Tech infrastructure lowered barriers, capturing 48% of the total investor base via Gen Z.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Female-managed AUM surged 147% over five years, significantly outpacing industry averages.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Digital databases bridge physical distances, enabling efficient service for remote B30 investors.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Tech-enabled distributors retain high-value clients while apps capture high-volume youth segments.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B30 Cities (Small Towns)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 Z (18-30 Years)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Women Investors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19% of Total Industry AUM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48% of Investor Base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26% of Unique Investors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Growth Indicator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54% share of Live SIP Accounts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81% come from Non-Metros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147% AUM Growth (5-Yr)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Primary Asset Class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Equity (77% allocation)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Equity (95% start with Equity)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Long-term Wealth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029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</a:defRPr>
            </a:pPr>
            <a:r>
              <a:t>Sources: AMFI / ICRA Analytics (Sep '25), PhonePe Wealth (Aug '25), AMFI-CRISIL (Mar '25)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When Fuel (SIPs), Driver (Distributors), and Engine (Tech) synchronize, they unlock B30 markets, Gen Z, and Women Investors.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Accelerating Towards the ₹100 Trillion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Industry projected to hit ₹100 Trillion by 2027, ahead of 2030 estimates.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Growth fueled by target of ₹1 Trillion in monthly SIP inflows by 2030.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Retail and HNI investors now command ~60% of total industry assets.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Trajectory requires sustained 16-18% CAGR and robust database security.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Bull case scenario targets potential ₹150 Trillion AUM by 2030.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The industry is calibrated to breach ₹100 Trillion by 2027, driven by accelerating retail inflows.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Segoe UI"/>
              </a:defRPr>
            </a:pPr>
            <a:r>
              <a:t>Maintaining the Machine: Scaling Resilience for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Summary: Fuel (SIPs) + Driver (MFDs) + Engine (Data) = Sustainable Scale.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Reality: 90% digital adoption demands zero-downtime infrastructure for 600M+ transactions.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Challenge: Cyber spend rising 17% annually to combat threats to the "Invisible Engine."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Recommendation: Invest in automated reconciliation to handle the next 10 crore investors.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Final Word: Operational resilience is the industry's most visible competitive advantage.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90D9"/>
                </a:solidFill>
              </a:rPr>
              <a:t>★ </a:t>
            </a:r>
            <a:r>
              <a:rPr sz="11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100">
                <a:solidFill>
                  <a:srgbClr val="2C3E50"/>
                </a:solidFill>
                <a:latin typeface="Segoe UI"/>
              </a:rPr>
              <a:t>Future success depends on fortifying the digital engine to withstand 600 million+ annual transactions.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